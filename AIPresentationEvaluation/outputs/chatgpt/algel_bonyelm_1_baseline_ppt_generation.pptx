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Bevezető dia. A prezentáció a feltöltött algoritmuselmélet jegyzet vonatkozó részének fogalmait rendezi tanulható sorrendbe: hatékony algoritmusok, eldöntési problémák, P és NP, coNP, majd Karp-redukció és NP-teljesség.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jegyzet hatékony algoritmusnak azt nevezi, amelynek maximális lépésszáma a bemenet hosszának valamely polinomjával felülről becsülhető. Fontos, hogy a bemenet hossza, nem pedig a bemenet számszerű értéke a mérvadó.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Egy eldöntési problémához tartozó nyelv azoknak a bemeneteknek a halmaza, amelyekre a válasz igen. A jelölésben x ∈ X azt jelenti, hogy az adott bemenet az igen példányok közé tartozik.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 osztály definíciója: azok az eldöntési problémák tartoznak ide, amelyekre van olyan algoritmus, amely minden bemenetre helyesen válaszol, és a lépésszáma polinom a bemenet hosszában.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jegyzet példái közül az út probléma könnyen láthatóan P-ben van, például szélességi bejárással. A prím tesztelése is P-ben van, de ennek bizonyítása sokáig nyitott kérdés volt. A Hamilton-kör problémáról nem ismert, hogy P-ben van-e.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tanúsítvány lényege: ha a válasz igen, akkor létezik egy rövid bizonyíték, amelynek helyessége polinom időben ellenőrizhető. Ha a válasz nem, akkor nincs olyan rövid tanúsítvány, amelyet az ellenőrző algoritmus elfogadna.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NP elnevezés a nemdeterminisztikus polinom időre utal. A jegyzet értelmezésében elég, ha egy igen példányhoz megsejtjük vagy megkapjuk a jó tanúsítványt; az ellenőrzés már polinom időben történik.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Hamilton-kör esetén a csúcsok kör menti felsorolása ellenőrizhető. Összetett számnál egy valódi osztó a tanúsítvány. A 3-színezésnél a tanúsítvány a csúcsokhoz rendelt három szín egy sorozata.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3-szín problémánál a tanúsítvány egy |V| hosszú sorozat, amely minden csúcshoz egy színt rendel az 1, 2, 3 értékek közül. Az ellenőrző algoritmus azt nézi, hogy nincs-e azonos színű szomszédos csúcspár.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komplementer probléma ugyanazokon a bemeneteken dolgozik, mint az eredeti, de az igen és nem válaszokat felcseréli. A jegyzet példája: az összetett probléma komplementere a prím probléma.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állítás bizonyítása egyszerű: ha X P-ben van, akkor a tanúsítvány lehet üres, az ellenőrzést pedig maga a polinom idejű eldöntő algoritmus végzi. Így P részhalmaza NP-nek és coNP-nek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 kontra NP kérdés azt kérdezi, hogy minden gyorsan ellenőrizhető igen válaszhoz tartozó probléma gyorsan meg is oldható-e. Ha P valódi részhalmaza NP-nek, akkor van olyan probléma, ahol az ellenőrzés lényegesen könnyebb, mint a megoldás megtalálása.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Karp-redukció egy polinom időben számolható f függvény. Az a célja, hogy az X probléma példányát úgy alakítsa át Y példányává, hogy az igen példányból igen példány, a nem példányból nem példány legyen.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 X visszavezethető Y-ra, és Y-ra van polinom idejű algoritmus, akkor X-re is kapunk polinom idejű algoritmust: először kiszámítjuk f(x)-et, majd futtatjuk Y algoritmusát. A redukciók tranzitivitása lesz az NP-teljességi bizonyítások alapja.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NP-nehéznek azt nevezzük, amihez minden NP-beli probléma visszavezethető. NP-teljes akkor lesz egy probléma, ha emellett maga is NP-ben van. A jegyzet szemlélete szerint ezek az NP osztály legnehezebb problémái.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gyakorlati NP-teljességi bizonyítás nem úgy történik, hogy minden NP-beli problémát közvetlenül Z-re redukálunk. Elég egy már ismert NP-teljes problémából redukálni Z-re, majd a tranzitivitást használni.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jegyzet bizonyítás nélkül elfogadja, hogy a 3-szín probléma NP-teljes, és ezt használja későbbi redukciók kiindulópontjaként. A 2-szín ezzel szemben polinom időben eldönthető, például szélességi bejárással.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maxftl probléma nem a maximum értékét kérdezi közvetlenül, hanem azt, hogy létezik-e legalább k darab független csúcs. Ez azért hasznos eldöntési változat, mert az igen válasz tanúsítványa egyszerű: felsoroljuk a k csúcsot, és ellenőrizzük, hogy nincs köztük él.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jegyzet konstrukciója három példányt készít a G gráfból: a, b és c típusú csúcsokat. Egy eredeti csúcs három másolata között minden él be van húzva, ezért független halmazban közülük legfeljebb egy választható. A kiválasztott másolat a színnek felel meg.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maxklikk probléma NP-teljességét a jegyzet a maxftl problémából vezeti vissza. A redukció lényege a komplementer gráf: ami G-ben független ponthalmaz, az a komplementer gráfban klikk. Zárásként a hallgatónak öt dolgot érdemes megjegyeznie: P a gyors megoldhatóság, NP a gyors igen-ellenőrzés, coNP a gyors nem-ellenőrzés, a Karp-redukció nehézséget visz át, az NP-teljes problémák pedig az NP legfontosabb nehéz problémái.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Friedl Katalin jegyzete alapján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bonyolultságelmélet alapjai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1481328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</a:rPr>
              <a:t>P, NP, coNP, Karp-redukció, NP-nehézség és NP-teljesség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52360" y="1874520"/>
            <a:ext cx="1188720" cy="914400"/>
          </a:xfrm>
          <a:prstGeom prst="rect">
            <a:avLst/>
          </a:prstGeom>
          <a:solidFill>
            <a:srgbClr val="E4F6F2"/>
          </a:solidFill>
          <a:ln w="15240">
            <a:solidFill>
              <a:srgbClr val="2A9D8F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915400" y="1325880"/>
            <a:ext cx="1508760" cy="914400"/>
          </a:xfrm>
          <a:prstGeom prst="rect">
            <a:avLst/>
          </a:prstGeom>
          <a:solidFill>
            <a:srgbClr val="FFF2CC"/>
          </a:solidFill>
          <a:ln w="15240">
            <a:solidFill>
              <a:srgbClr val="A66C00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66C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NP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012680" y="2331720"/>
            <a:ext cx="1737360" cy="914400"/>
          </a:xfrm>
          <a:prstGeom prst="rect">
            <a:avLst/>
          </a:prstGeom>
          <a:solidFill>
            <a:srgbClr val="EFE8F3"/>
          </a:solidFill>
          <a:ln w="15240">
            <a:solidFill>
              <a:srgbClr val="6D597A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59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coNP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955280" y="3063240"/>
            <a:ext cx="1005840" cy="64008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418320" y="2743200"/>
            <a:ext cx="0" cy="96012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6D597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138160" y="3840480"/>
            <a:ext cx="201168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17324D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 ≺ 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738360" y="4617720"/>
            <a:ext cx="1828800" cy="566928"/>
          </a:xfrm>
          <a:prstGeom prst="rect">
            <a:avLst/>
          </a:prstGeom>
          <a:solidFill>
            <a:srgbClr val="FDE9E4"/>
          </a:solidFill>
          <a:ln w="15240">
            <a:solidFill>
              <a:srgbClr val="E76F51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NP-teljes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7240" y="507492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Oktatási célú, vizsgára készülést támogató prezentáció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ALAPFOGALOM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Hatékony algoritmus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polinom lépésszám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bemenet hossza számít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rövid kimenet is lehet nehéz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eldöntési problémákra fókuszálunk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 = O(n^k), ahol k pozitív konstans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720840" y="1417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lépésszám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12280" y="5074920"/>
            <a:ext cx="4297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4B55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5074920"/>
            <a:ext cx="0" cy="-356616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4B55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5160" y="4800600"/>
            <a:ext cx="960120" cy="-210312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4590288"/>
            <a:ext cx="914400" cy="-3383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4251960"/>
            <a:ext cx="914400" cy="-484632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3767328"/>
            <a:ext cx="1051560" cy="-70408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A9D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0" y="4800600"/>
            <a:ext cx="822960" cy="-100584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E76F5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4700016"/>
            <a:ext cx="777240" cy="-173736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E76F5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0" y="4526280"/>
            <a:ext cx="640080" cy="-54864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E76F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3977640"/>
            <a:ext cx="640080" cy="-100584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E76F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0" y="2971800"/>
            <a:ext cx="502920" cy="-1143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E76F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78440" y="1828800"/>
            <a:ext cx="411480" cy="-64008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E76F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2880360"/>
            <a:ext cx="1280160" cy="329184"/>
          </a:xfrm>
          <a:prstGeom prst="rect">
            <a:avLst/>
          </a:prstGeom>
          <a:solidFill>
            <a:srgbClr val="E4F6F2"/>
          </a:solidFill>
          <a:ln>
            <a:solidFill>
              <a:srgbClr val="2A9D8F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polinom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72600" y="1417320"/>
            <a:ext cx="1280160" cy="329184"/>
          </a:xfrm>
          <a:prstGeom prst="rect">
            <a:avLst/>
          </a:prstGeom>
          <a:solidFill>
            <a:srgbClr val="FDE9E4"/>
          </a:solidFill>
          <a:ln>
            <a:solidFill>
              <a:srgbClr val="E76F51">
                <a:alpha val="8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6F51"/>
                </a:solidFill>
              </a:rPr>
              <a:t>exponenciális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49640" y="525780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bemenet hossza 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IGEN / NEM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Eldöntési problémák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válasz 1 bit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az igen példányok halmaza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bemenetek mint „szavak”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példák: prím, H, út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∈ X  ⇔  az x bemenetre a válasz igen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812280" y="1417320"/>
            <a:ext cx="4206240" cy="3291840"/>
          </a:xfrm>
          <a:prstGeom prst="ellipse">
            <a:avLst/>
          </a:prstGeom>
          <a:solidFill>
            <a:srgbClr val="FFFFFF">
              <a:alpha val="97000"/>
            </a:srgbClr>
          </a:solidFill>
          <a:ln w="17780">
            <a:solidFill>
              <a:srgbClr val="1732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9560" y="2148840"/>
            <a:ext cx="2194560" cy="1508760"/>
          </a:xfrm>
          <a:prstGeom prst="ellipse">
            <a:avLst/>
          </a:prstGeom>
          <a:solidFill>
            <a:srgbClr val="E4F6F2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572768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lehetséges bemenetek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92440" y="2697480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igen példányok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78040" y="3886200"/>
            <a:ext cx="731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89720" y="3090672"/>
            <a:ext cx="731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igen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DEFINÍCIÓ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 osztály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polinom időben eldönthető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minden bemenetre helyes válasz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algoritmus: A(x) = igen / nem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példa: út ∈ 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∈ P, ha van polinom idejű A algoritmus X eldöntésére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720840" y="3063240"/>
            <a:ext cx="1005840" cy="0"/>
          </a:xfrm>
          <a:prstGeom prst="line">
            <a:avLst/>
          </a:prstGeom>
          <a:solidFill>
            <a:srgbClr val="FFFFFF">
              <a:alpha val="0"/>
            </a:srgbClr>
          </a:solidFill>
          <a:ln w="2921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281160" y="3063240"/>
            <a:ext cx="1005840" cy="0"/>
          </a:xfrm>
          <a:prstGeom prst="line">
            <a:avLst/>
          </a:prstGeom>
          <a:solidFill>
            <a:srgbClr val="FFFFFF">
              <a:alpha val="0"/>
            </a:srgbClr>
          </a:solidFill>
          <a:ln w="2921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263640" y="2670048"/>
            <a:ext cx="749808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17324D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754112" y="2423160"/>
            <a:ext cx="1417320" cy="1234440"/>
          </a:xfrm>
          <a:prstGeom prst="rect">
            <a:avLst/>
          </a:prstGeom>
          <a:solidFill>
            <a:srgbClr val="E4F6F2"/>
          </a:solidFill>
          <a:ln w="15240">
            <a:solidFill>
              <a:srgbClr val="2A9D8F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0195560" y="2606040"/>
            <a:ext cx="1417320" cy="896112"/>
          </a:xfrm>
          <a:prstGeom prst="rect">
            <a:avLst/>
          </a:prstGeom>
          <a:solidFill>
            <a:srgbClr val="FFFFFF"/>
          </a:solidFill>
          <a:ln w="15240">
            <a:solidFill>
              <a:srgbClr val="17324D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igen / nem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26680" y="379476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polinom idő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PÉLDÁK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P-beli és nyitott példák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út ∈ P: szélességi bejárás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prím ∈ P: bizonyított, de nem triviális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H: nem ismert, hogy P-ben van-e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speciális gráfosztályoknál lehet könnyebb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 ∈ P,  prím ∈ P,  H ?∈ P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583680" y="1417320"/>
            <a:ext cx="1463040" cy="822960"/>
          </a:xfrm>
          <a:prstGeom prst="rect">
            <a:avLst/>
          </a:prstGeom>
          <a:solidFill>
            <a:srgbClr val="E4F6F2"/>
          </a:solidFill>
          <a:ln w="15240">
            <a:solidFill>
              <a:srgbClr val="2A9D8F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út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12280" y="2331720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P-ben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1417320"/>
            <a:ext cx="1463040" cy="822960"/>
          </a:xfrm>
          <a:prstGeom prst="rect">
            <a:avLst/>
          </a:prstGeom>
          <a:solidFill>
            <a:srgbClr val="E4F6F2"/>
          </a:solidFill>
          <a:ln w="15240">
            <a:solidFill>
              <a:srgbClr val="2A9D8F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prím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458200" y="2331720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P-ben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875520" y="1417320"/>
            <a:ext cx="1463040" cy="822960"/>
          </a:xfrm>
          <a:prstGeom prst="rect">
            <a:avLst/>
          </a:prstGeom>
          <a:solidFill>
            <a:srgbClr val="FFF2CC"/>
          </a:solidFill>
          <a:ln w="15240">
            <a:solidFill>
              <a:srgbClr val="A66C00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66C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0012680" y="2331720"/>
            <a:ext cx="1188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6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ismert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4160520"/>
            <a:ext cx="685800" cy="-36576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93A3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3794760"/>
            <a:ext cx="685800" cy="45720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93A3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4251960"/>
            <a:ext cx="731520" cy="-32004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93A3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6016" y="4014216"/>
            <a:ext cx="292608" cy="292608"/>
          </a:xfrm>
          <a:prstGeom prst="ellipse">
            <a:avLst/>
          </a:prstGeom>
          <a:solidFill>
            <a:srgbClr val="E4F6F2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71816" y="3648456"/>
            <a:ext cx="292608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357616" y="4105656"/>
            <a:ext cx="292608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 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089136" y="3785616"/>
            <a:ext cx="292608" cy="292608"/>
          </a:xfrm>
          <a:prstGeom prst="ellipse">
            <a:avLst/>
          </a:prstGeom>
          <a:solidFill>
            <a:srgbClr val="E4F6F2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75120" y="4709160"/>
            <a:ext cx="3108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szélességi bejárással útkeresés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ELLENŐRZÉS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Hatékony tanúsítvány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igen válaszhoz rövid bizonyíték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polinom hosszú tanúsítvány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polinom idejű ellenőrzés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nem válasznál nincs becsapó 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∈ X ⇒ ∃t: |t|=O(|x|^c) és T(x,t)=igen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537960" y="2331720"/>
            <a:ext cx="1097280" cy="41148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37960" y="3794760"/>
            <a:ext cx="1097280" cy="-50292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52560" y="2999232"/>
            <a:ext cx="123444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897880" y="1993392"/>
            <a:ext cx="786384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17324D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897880" y="3456432"/>
            <a:ext cx="786384" cy="658368"/>
          </a:xfrm>
          <a:prstGeom prst="rect">
            <a:avLst/>
          </a:prstGeom>
          <a:solidFill>
            <a:srgbClr val="FFF2CC"/>
          </a:solidFill>
          <a:ln w="15240">
            <a:solidFill>
              <a:srgbClr val="A66C00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66C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726680" y="2468880"/>
            <a:ext cx="1234440" cy="1078992"/>
          </a:xfrm>
          <a:prstGeom prst="rect">
            <a:avLst/>
          </a:prstGeom>
          <a:solidFill>
            <a:srgbClr val="E4F6F2"/>
          </a:solidFill>
          <a:ln w="15240">
            <a:solidFill>
              <a:srgbClr val="2A9D8F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10195560" y="2651760"/>
            <a:ext cx="1371600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17324D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igen / nem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24928" y="3703320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ellenőrző algoritmus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DEFINÍCIÓ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 NP osztály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hatékony tanúsítvánnyal rendelkező problémák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az igen válasz gyorsan ellenőrizhető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tanúsítvány megtalálása nem biztos gyors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összes t kipróbálása exponenciális lehet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 = { X : X-hez van hatékony tanúsítvány }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492240" y="1783080"/>
            <a:ext cx="1965960" cy="713232"/>
          </a:xfrm>
          <a:prstGeom prst="rect">
            <a:avLst/>
          </a:prstGeom>
          <a:solidFill>
            <a:srgbClr val="FFF2CC"/>
          </a:solidFill>
          <a:ln w="15240">
            <a:solidFill>
              <a:srgbClr val="A66C00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6C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Megsejtjük t-t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49640" y="2130552"/>
            <a:ext cx="73152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253728" y="1783080"/>
            <a:ext cx="2148840" cy="713232"/>
          </a:xfrm>
          <a:prstGeom prst="rect">
            <a:avLst/>
          </a:prstGeom>
          <a:solidFill>
            <a:srgbClr val="E4F6F2"/>
          </a:solidFill>
          <a:ln w="15240">
            <a:solidFill>
              <a:srgbClr val="2A9D8F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Ellenőrizzük T-vel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834640"/>
            <a:ext cx="4480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 = nondeterminisztikus polinom idő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3246120"/>
            <a:ext cx="4480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a megoldás megtalálása, hanem az ellenőrzés a kulcs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TANÚSÍTVÁNYOK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NP-példák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Hamilton-kör: csúcssorrend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összetett: valódi osztó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3-szín: színezési sorozat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mind polinom időben ellenőrizhető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tanúsítvány = rövid, ellenőrizhető bizonyíték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583680" y="1417320"/>
            <a:ext cx="1097280" cy="548640"/>
          </a:xfrm>
          <a:prstGeom prst="rect">
            <a:avLst/>
          </a:prstGeom>
          <a:solidFill>
            <a:srgbClr val="EFE8F3"/>
          </a:solidFill>
          <a:ln w="15240">
            <a:solidFill>
              <a:srgbClr val="6D597A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59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132320" y="2240280"/>
            <a:ext cx="411480" cy="41148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6D59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2651760"/>
            <a:ext cx="-594360" cy="36576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6D59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3017520"/>
            <a:ext cx="182880" cy="-77724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6D59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22592" y="2130552"/>
            <a:ext cx="219456" cy="2194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97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34072" y="2542032"/>
            <a:ext cx="219456" cy="2194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97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39712" y="2907792"/>
            <a:ext cx="219456" cy="2194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97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csúcssorrend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83880" y="1417320"/>
            <a:ext cx="1417320" cy="548640"/>
          </a:xfrm>
          <a:prstGeom prst="rect">
            <a:avLst/>
          </a:prstGeom>
          <a:solidFill>
            <a:srgbClr val="FFF2CC"/>
          </a:solidFill>
          <a:ln w="15240">
            <a:solidFill>
              <a:srgbClr val="A66C00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6C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összetett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0" y="2468880"/>
            <a:ext cx="1325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= a · 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38160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valódi osztó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0" y="1417320"/>
            <a:ext cx="1325880" cy="548640"/>
          </a:xfrm>
          <a:prstGeom prst="rect">
            <a:avLst/>
          </a:prstGeom>
          <a:solidFill>
            <a:srgbClr val="E4F6F2"/>
          </a:solidFill>
          <a:ln w="15240">
            <a:solidFill>
              <a:srgbClr val="2A9D8F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3-szín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0561320" y="2240280"/>
            <a:ext cx="502920" cy="41148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93A3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64240" y="2651760"/>
            <a:ext cx="-685800" cy="32004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93A3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2971800"/>
            <a:ext cx="182880" cy="-73152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93A3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33304" y="2112264"/>
            <a:ext cx="256032" cy="256032"/>
          </a:xfrm>
          <a:prstGeom prst="ellipse">
            <a:avLst/>
          </a:prstGeom>
          <a:solidFill>
            <a:srgbClr val="2A9D8F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36224" y="2523744"/>
            <a:ext cx="256032" cy="256032"/>
          </a:xfrm>
          <a:prstGeom prst="ellipse">
            <a:avLst/>
          </a:prstGeom>
          <a:solidFill>
            <a:srgbClr val="E9C46A"/>
          </a:solidFill>
          <a:ln w="16510">
            <a:solidFill>
              <a:srgbClr val="E9C46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50424" y="2843784"/>
            <a:ext cx="256032" cy="256032"/>
          </a:xfrm>
          <a:prstGeom prst="ellipse">
            <a:avLst/>
          </a:prstGeom>
          <a:solidFill>
            <a:srgbClr val="E76F51"/>
          </a:solidFill>
          <a:ln w="16510">
            <a:solidFill>
              <a:srgbClr val="E76F5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 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87000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színezés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NP-PÉLDA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3-színezés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bemenet: egyszerű irányítatlan gráf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kérdés: színezhető-e 3 színnel?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tanúsítvány: t ∈ {1,2,3}^{|V|}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ellenőrzés: szomszédok színe eltér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t_i = t_j ⇒ {v_i, v_j} ∉ E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06640" y="1828800"/>
            <a:ext cx="173736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93A3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1828800"/>
            <a:ext cx="1143000" cy="123444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93A3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87000" y="3063240"/>
            <a:ext cx="-1828800" cy="100584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93A3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4069080"/>
            <a:ext cx="-1554480" cy="-91440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93A3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03720" y="3154680"/>
            <a:ext cx="502920" cy="-132588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93A3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0" y="1828800"/>
            <a:ext cx="-685800" cy="224028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93A3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828800"/>
            <a:ext cx="1051560" cy="224028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93A3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0608" y="1572768"/>
            <a:ext cx="512064" cy="512064"/>
          </a:xfrm>
          <a:prstGeom prst="ellipse">
            <a:avLst/>
          </a:prstGeom>
          <a:solidFill>
            <a:srgbClr val="2A9D8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87968" y="1572768"/>
            <a:ext cx="512064" cy="512064"/>
          </a:xfrm>
          <a:prstGeom prst="ellipse">
            <a:avLst/>
          </a:prstGeom>
          <a:solidFill>
            <a:srgbClr val="E9C46A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30968" y="2807208"/>
            <a:ext cx="512064" cy="512064"/>
          </a:xfrm>
          <a:prstGeom prst="ellipse">
            <a:avLst/>
          </a:prstGeom>
          <a:solidFill>
            <a:srgbClr val="E76F51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02168" y="3813048"/>
            <a:ext cx="512064" cy="512064"/>
          </a:xfrm>
          <a:prstGeom prst="ellipse">
            <a:avLst/>
          </a:prstGeom>
          <a:solidFill>
            <a:srgbClr val="2A9D8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47688" y="2898648"/>
            <a:ext cx="512064" cy="512064"/>
          </a:xfrm>
          <a:prstGeom prst="ellipse">
            <a:avLst/>
          </a:prstGeom>
          <a:solidFill>
            <a:srgbClr val="E9C46A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457200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minden él két végpontja más színű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NEM VÁLASZ TANÚSÍTÁSA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Komplementer probléma és coNP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ugyanaz a bemenet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ellentétes válasz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coNP: NP-beli problémák komplementerei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coNP-ben a nem válasz tanúsítható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∈ X̄ ⇔ x ∉ X    és    X ∈ coNP ⇔ X̄ ∈ NP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720840" y="1600200"/>
            <a:ext cx="4160520" cy="2880360"/>
          </a:xfrm>
          <a:prstGeom prst="rect">
            <a:avLst/>
          </a:prstGeom>
          <a:solidFill>
            <a:srgbClr val="FFFFFF">
              <a:alpha val="98000"/>
            </a:srgbClr>
          </a:solidFill>
          <a:ln w="15240">
            <a:solidFill>
              <a:srgbClr val="1732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2057400"/>
            <a:ext cx="1691640" cy="1691640"/>
          </a:xfrm>
          <a:prstGeom prst="ellipse">
            <a:avLst/>
          </a:prstGeom>
          <a:solidFill>
            <a:srgbClr val="E4F6F2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2761488"/>
            <a:ext cx="457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46920" y="2788920"/>
            <a:ext cx="5486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D59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53528" y="3858768"/>
            <a:ext cx="731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555480" y="3858768"/>
            <a:ext cx="731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D59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4828032"/>
            <a:ext cx="2926080" cy="502920"/>
          </a:xfrm>
          <a:prstGeom prst="rect">
            <a:avLst/>
          </a:prstGeom>
          <a:solidFill>
            <a:srgbClr val="FFF2CC"/>
          </a:solidFill>
          <a:ln w="15240">
            <a:solidFill>
              <a:srgbClr val="A66C00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6C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összetett ↔ prím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TARTALMAZÁSOK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 kapcsolata NP-vel és coNP-vel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minden P-beli probléma NP-ben van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minden P-beli probléma coNP-ben van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 gyorsan döntünk, tanúsítvány sem kell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vehető: |t| = 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⊆ NP    és    P ⊆ coNP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629400" y="1508760"/>
            <a:ext cx="2057400" cy="2057400"/>
          </a:xfrm>
          <a:prstGeom prst="ellipse">
            <a:avLst/>
          </a:prstGeom>
          <a:solidFill>
            <a:srgbClr val="FFF2CC"/>
          </a:solidFill>
          <a:ln w="15240">
            <a:solidFill>
              <a:srgbClr val="A66C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040" y="2084832"/>
            <a:ext cx="960120" cy="960120"/>
          </a:xfrm>
          <a:prstGeom prst="ellipse">
            <a:avLst/>
          </a:prstGeom>
          <a:solidFill>
            <a:srgbClr val="E4F6F2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1709928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66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15784" y="2432304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35440" y="1508760"/>
            <a:ext cx="2057400" cy="2057400"/>
          </a:xfrm>
          <a:prstGeom prst="ellipse">
            <a:avLst/>
          </a:prstGeom>
          <a:solidFill>
            <a:srgbClr val="EFE8F3"/>
          </a:solidFill>
          <a:ln w="15240">
            <a:solidFill>
              <a:srgbClr val="6D59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0" y="2084832"/>
            <a:ext cx="960120" cy="960120"/>
          </a:xfrm>
          <a:prstGeom prst="ellipse">
            <a:avLst/>
          </a:prstGeom>
          <a:solidFill>
            <a:srgbClr val="E4F6F2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8360" y="1709928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D59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21824" y="2432304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4160520"/>
            <a:ext cx="38404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polinom algoritmus ⇒ polinom ellenőrzés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NYITOTT PROBLÉMA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 ?= NP kérdés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az egyik legfontosabb nyitott kérdés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ellenőrzés vs megtalálás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sok probléma bonyolultsága ezen múlik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 ?= NP ∩ coNP sem ismert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?= NP      és      P ?= NP ∩ coNP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Lehetőség 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1783080"/>
            <a:ext cx="1783080" cy="1783080"/>
          </a:xfrm>
          <a:prstGeom prst="ellipse">
            <a:avLst/>
          </a:prstGeom>
          <a:solidFill>
            <a:srgbClr val="E4F6F2"/>
          </a:solidFill>
          <a:ln w="1651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14032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NP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Lehetőség 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06840" y="1783080"/>
            <a:ext cx="2377440" cy="2057400"/>
          </a:xfrm>
          <a:prstGeom prst="ellipse">
            <a:avLst/>
          </a:prstGeom>
          <a:solidFill>
            <a:srgbClr val="FFF2CC"/>
          </a:solidFill>
          <a:ln w="16510">
            <a:solidFill>
              <a:srgbClr val="A66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46920" y="2423160"/>
            <a:ext cx="1005840" cy="777240"/>
          </a:xfrm>
          <a:prstGeom prst="ellipse">
            <a:avLst/>
          </a:prstGeom>
          <a:solidFill>
            <a:srgbClr val="E4F6F2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836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66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921240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4389120"/>
            <a:ext cx="3749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jegyzet hangsúlya: nem tudjuk, melyik igaz.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VISSZAVEZETÉS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Karp-redukció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problémák nehézségének összehasonlítása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X bemenetét Y bemenetévé alakítjuk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az átalakítás polinom idejű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az igen/nem válasz megmarad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≺ Y, ha ∃ polinom idejű f:  x ∈ X ⇔ f(x) ∈ Y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675120" y="2880360"/>
            <a:ext cx="1051560" cy="0"/>
          </a:xfrm>
          <a:prstGeom prst="line">
            <a:avLst/>
          </a:prstGeom>
          <a:solidFill>
            <a:srgbClr val="FFFFFF">
              <a:alpha val="0"/>
            </a:srgbClr>
          </a:solidFill>
          <a:ln w="3048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235440" y="2880360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3048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172200" y="2514600"/>
            <a:ext cx="86868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17324D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818120" y="2468880"/>
            <a:ext cx="1234440" cy="822960"/>
          </a:xfrm>
          <a:prstGeom prst="rect">
            <a:avLst/>
          </a:prstGeom>
          <a:solidFill>
            <a:srgbClr val="E4F6F2"/>
          </a:solidFill>
          <a:ln w="15240">
            <a:solidFill>
              <a:srgbClr val="2A9D8F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058400" y="2514600"/>
            <a:ext cx="10058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17324D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f(x)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3429000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bemenete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29800" y="3429000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bemenete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09560" y="4160520"/>
            <a:ext cx="1645920" cy="502920"/>
          </a:xfrm>
          <a:prstGeom prst="rect">
            <a:avLst/>
          </a:prstGeom>
          <a:solidFill>
            <a:srgbClr val="FFF2CC"/>
          </a:solidFill>
          <a:ln w="15240">
            <a:solidFill>
              <a:srgbClr val="A66C00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66C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 ≺ Y</a:t>
            </a:r>
            <a:endParaRPr lang="en-US"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KÖVETKEZMÉNYEK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 ad a redukció?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 Y könnyű, akkor X is könnyű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NP-tagság is visszahozható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coNP-tagság is visszahozható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≺ reláció tranzitív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∈ P és X ≺ Y ⇒ X ∈ P;    X ≺ Y, Y ≺ Z ⇒ X ≺ Z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583680" y="2423160"/>
            <a:ext cx="13258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06840" y="2423160"/>
            <a:ext cx="13258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080760" y="2057400"/>
            <a:ext cx="685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7324D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001000" y="2057400"/>
            <a:ext cx="685800" cy="685800"/>
          </a:xfrm>
          <a:prstGeom prst="rect">
            <a:avLst/>
          </a:prstGeom>
          <a:solidFill>
            <a:srgbClr val="E4F6F2"/>
          </a:solidFill>
          <a:ln w="15240">
            <a:solidFill>
              <a:srgbClr val="2A9D8F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378440" y="2057400"/>
            <a:ext cx="685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7324D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6675120" y="3840480"/>
            <a:ext cx="365760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909560" y="4069080"/>
            <a:ext cx="17373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tranzitivitás: X ≺ Z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4617720"/>
            <a:ext cx="4023360" cy="457200"/>
          </a:xfrm>
          <a:prstGeom prst="rect">
            <a:avLst/>
          </a:prstGeom>
          <a:solidFill>
            <a:srgbClr val="E4F6F2"/>
          </a:solidFill>
          <a:ln w="15240">
            <a:solidFill>
              <a:srgbClr val="2A9D8F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algoritmusa + f ⇒ X algoritmusa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DEFINÍCIÓK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NP-nehéz és NP-teljes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NP-nehéz: minden NP-beli probléma rá redukálható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NP-teljes: NP-nehéz és NP-ben van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az NP legnehezebb problémái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egy NP-teljes P-ben ⇒ minden NP-beli P-ben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NP-nehéz: ∀X∈NP: X≺Z     |     NP-teljes: Z∈NP és Z NP-nehéz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675120" y="1371600"/>
            <a:ext cx="3200400" cy="2926080"/>
          </a:xfrm>
          <a:prstGeom prst="ellipse">
            <a:avLst/>
          </a:prstGeom>
          <a:solidFill>
            <a:srgbClr val="FFF2CC"/>
          </a:solidFill>
          <a:ln w="16510">
            <a:solidFill>
              <a:srgbClr val="A66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1600200"/>
            <a:ext cx="1005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66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52360" y="2514600"/>
            <a:ext cx="1783080" cy="566928"/>
          </a:xfrm>
          <a:prstGeom prst="rect">
            <a:avLst/>
          </a:prstGeom>
          <a:solidFill>
            <a:srgbClr val="FDE9E4"/>
          </a:solidFill>
          <a:ln w="15240">
            <a:solidFill>
              <a:srgbClr val="E76F51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NP-teljes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921240" y="4370832"/>
            <a:ext cx="160020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E76F51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NP-nehéz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0" y="3063240"/>
            <a:ext cx="1234440" cy="1216152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738360" y="5074920"/>
            <a:ext cx="1737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lehet NP-n kívül is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MÓDSZER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NP-teljességi bizonyítási séma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1. belátjuk: Z ∈ NP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2. választunk ismert NP-teljes Y-t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3. megmutatjuk: Y ≺ 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tranzitivitással Z NP-nehéz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NP-teljes és Y ≺ Z ⇒ Z NP-nehéz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0" cy="530352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0" y="2871216"/>
            <a:ext cx="0" cy="530352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0" y="3913632"/>
            <a:ext cx="0" cy="530352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989320" y="1325880"/>
            <a:ext cx="1737360" cy="502920"/>
          </a:xfrm>
          <a:prstGeom prst="rect">
            <a:avLst/>
          </a:prstGeom>
          <a:solidFill>
            <a:srgbClr val="E4F6F2"/>
          </a:solidFill>
          <a:ln w="15240">
            <a:solidFill>
              <a:srgbClr val="2A9D8F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 ∈ NP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89320" y="2377440"/>
            <a:ext cx="1737360" cy="502920"/>
          </a:xfrm>
          <a:prstGeom prst="rect">
            <a:avLst/>
          </a:prstGeom>
          <a:solidFill>
            <a:srgbClr val="FFF2CC"/>
          </a:solidFill>
          <a:ln w="15240">
            <a:solidFill>
              <a:srgbClr val="A66C00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66C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NP-teljes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89320" y="3429000"/>
            <a:ext cx="1737360" cy="502920"/>
          </a:xfrm>
          <a:prstGeom prst="rect">
            <a:avLst/>
          </a:prstGeom>
          <a:solidFill>
            <a:srgbClr val="EFE8F3"/>
          </a:solidFill>
          <a:ln w="15240">
            <a:solidFill>
              <a:srgbClr val="6D597A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59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≺ Z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97880" y="4480560"/>
            <a:ext cx="1920240" cy="566928"/>
          </a:xfrm>
          <a:prstGeom prst="rect">
            <a:avLst/>
          </a:prstGeom>
          <a:solidFill>
            <a:srgbClr val="FDE9E4"/>
          </a:solidFill>
          <a:ln w="15240">
            <a:solidFill>
              <a:srgbClr val="E76F51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 NP-teljes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21040" y="2103120"/>
            <a:ext cx="91440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17324D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X∈NP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35440" y="2331720"/>
            <a:ext cx="731520" cy="0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93A3B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966960" y="2103120"/>
            <a:ext cx="640080" cy="457200"/>
          </a:xfrm>
          <a:prstGeom prst="rect">
            <a:avLst/>
          </a:prstGeom>
          <a:solidFill>
            <a:srgbClr val="FFF2CC"/>
          </a:solidFill>
          <a:ln w="15240">
            <a:solidFill>
              <a:srgbClr val="A66C00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6C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607040" y="2331720"/>
            <a:ext cx="731520" cy="0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93A3B5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1201400" y="2103120"/>
            <a:ext cx="640080" cy="457200"/>
          </a:xfrm>
          <a:prstGeom prst="rect">
            <a:avLst/>
          </a:prstGeom>
          <a:solidFill>
            <a:srgbClr val="FDE9E4"/>
          </a:solidFill>
          <a:ln w="15240">
            <a:solidFill>
              <a:srgbClr val="E76F51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32520" y="2926080"/>
            <a:ext cx="2468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tranzitív redukciós lánc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KIINDULÓPONT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3-szín szerepe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jegyzet elfogadja: 3szín NP-teljes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jó kiindulópont redukciókhoz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2szín ∈ 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kis változás, nagy bonyolultsági különbség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Tétel: 3szín NP-teljes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492240" y="1508760"/>
            <a:ext cx="1600200" cy="502920"/>
          </a:xfrm>
          <a:prstGeom prst="rect">
            <a:avLst/>
          </a:prstGeom>
          <a:solidFill>
            <a:srgbClr val="E4F6F2"/>
          </a:solidFill>
          <a:ln w="15240">
            <a:solidFill>
              <a:srgbClr val="2A9D8F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2szín ∈ 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66560" y="2423160"/>
            <a:ext cx="594360" cy="54864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93A3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2971800"/>
            <a:ext cx="-457200" cy="54864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93A3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03720" y="3520440"/>
            <a:ext cx="-137160" cy="-109728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93A3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0256" y="2276856"/>
            <a:ext cx="292608" cy="292608"/>
          </a:xfrm>
          <a:prstGeom prst="ellipse">
            <a:avLst/>
          </a:prstGeom>
          <a:solidFill>
            <a:srgbClr val="2A9D8F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14616" y="2825496"/>
            <a:ext cx="292608" cy="292608"/>
          </a:xfrm>
          <a:prstGeom prst="ellipse">
            <a:avLst/>
          </a:prstGeom>
          <a:solidFill>
            <a:srgbClr val="17324D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57416" y="3374136"/>
            <a:ext cx="292608" cy="292608"/>
          </a:xfrm>
          <a:prstGeom prst="ellipse">
            <a:avLst/>
          </a:prstGeom>
          <a:solidFill>
            <a:srgbClr val="2A9D8F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1508760"/>
            <a:ext cx="2103120" cy="502920"/>
          </a:xfrm>
          <a:prstGeom prst="rect">
            <a:avLst/>
          </a:prstGeom>
          <a:solidFill>
            <a:srgbClr val="FDE9E4"/>
          </a:solidFill>
          <a:ln w="15240">
            <a:solidFill>
              <a:srgbClr val="E76F51">
                <a:alpha val="8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3szín NP-teljes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26880" y="2423160"/>
            <a:ext cx="777240" cy="32004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93A3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2743200"/>
            <a:ext cx="-182880" cy="77724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93A3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21240" y="3520440"/>
            <a:ext cx="-822960" cy="-22860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93A3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3291840"/>
            <a:ext cx="228600" cy="-86868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93A3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2423160"/>
            <a:ext cx="594360" cy="109728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93A3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0576" y="2276856"/>
            <a:ext cx="292608" cy="292608"/>
          </a:xfrm>
          <a:prstGeom prst="ellipse">
            <a:avLst/>
          </a:prstGeom>
          <a:solidFill>
            <a:srgbClr val="2A9D8F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57816" y="2596896"/>
            <a:ext cx="292608" cy="292608"/>
          </a:xfrm>
          <a:prstGeom prst="ellipse">
            <a:avLst/>
          </a:prstGeom>
          <a:solidFill>
            <a:srgbClr val="E9C46A"/>
          </a:solidFill>
          <a:ln w="16510">
            <a:solidFill>
              <a:srgbClr val="E9C46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74936" y="3374136"/>
            <a:ext cx="292608" cy="292608"/>
          </a:xfrm>
          <a:prstGeom prst="ellipse">
            <a:avLst/>
          </a:prstGeom>
          <a:solidFill>
            <a:srgbClr val="E76F51"/>
          </a:solidFill>
          <a:ln w="16510">
            <a:solidFill>
              <a:srgbClr val="E76F5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51976" y="3145536"/>
            <a:ext cx="292608" cy="292608"/>
          </a:xfrm>
          <a:prstGeom prst="ellipse">
            <a:avLst/>
          </a:prstGeom>
          <a:solidFill>
            <a:srgbClr val="2A9D8F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 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MAXFTL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Maximális független ponthalmaz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eldöntési változat: (G,k)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van-e k független csúcs?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tanúsítvány: k csúcs felsorolása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 maxftl P-ben lenne, a maximum mérete is kereshető lenne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maxftl: (G,k) ∈ maxftl ⇔ G-ben van k független csúcs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132320" y="1828800"/>
            <a:ext cx="1188720" cy="-9144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93A3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0" y="1737360"/>
            <a:ext cx="1097280" cy="73152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93A3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0" y="2468880"/>
            <a:ext cx="-731520" cy="118872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93A3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3657600"/>
            <a:ext cx="-1371600" cy="-27432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93A3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3383280"/>
            <a:ext cx="-182880" cy="-155448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93A3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737360"/>
            <a:ext cx="365760" cy="192024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93A3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18320" y="2468880"/>
            <a:ext cx="914400" cy="91440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93A3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3657600"/>
            <a:ext cx="1645920" cy="-27432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93A3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1152" y="1627632"/>
            <a:ext cx="402336" cy="402336"/>
          </a:xfrm>
          <a:prstGeom prst="ellipse">
            <a:avLst/>
          </a:prstGeom>
          <a:solidFill>
            <a:srgbClr val="E4F6F2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19872" y="1536192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17152" y="2267712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85632" y="3456432"/>
            <a:ext cx="402336" cy="402336"/>
          </a:xfrm>
          <a:prstGeom prst="ellipse">
            <a:avLst/>
          </a:prstGeom>
          <a:solidFill>
            <a:srgbClr val="E4F6F2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14032" y="3182112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131552" y="3182112"/>
            <a:ext cx="402336" cy="402336"/>
          </a:xfrm>
          <a:prstGeom prst="ellipse">
            <a:avLst/>
          </a:prstGeom>
          <a:solidFill>
            <a:srgbClr val="E4F6F2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78040" y="425196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kiválasztott csúcsok között nincs él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KONSTRUKCIÓ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Redukció: 3szín ≺ maxftl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 n csúcsából H készül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H-nak 3n csúcsa van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minden v_i-hez: a_i, b_i, c_i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 = 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∈ 3szín ⇔ (H,n) ∈ maxftl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126480" y="1737360"/>
            <a:ext cx="685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a-réteg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2651760"/>
            <a:ext cx="685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b-réteg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0" y="3566160"/>
            <a:ext cx="685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c-réteg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40880" y="1874520"/>
            <a:ext cx="0" cy="91440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2788920"/>
            <a:ext cx="0" cy="91440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1874520"/>
            <a:ext cx="0" cy="182880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874520"/>
            <a:ext cx="0" cy="91440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788920"/>
            <a:ext cx="0" cy="91440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874520"/>
            <a:ext cx="0" cy="182880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0" y="1874520"/>
            <a:ext cx="0" cy="91440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0" y="2788920"/>
            <a:ext cx="0" cy="91440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0" y="1874520"/>
            <a:ext cx="0" cy="182880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81360" y="1874520"/>
            <a:ext cx="0" cy="91440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81360" y="2788920"/>
            <a:ext cx="0" cy="91440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1874520"/>
            <a:ext cx="0" cy="182880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1874520"/>
            <a:ext cx="256032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1874520"/>
            <a:ext cx="256032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2788920"/>
            <a:ext cx="256032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2788920"/>
            <a:ext cx="256032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3703320"/>
            <a:ext cx="256032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3703320"/>
            <a:ext cx="256032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76288" y="1709928"/>
            <a:ext cx="329184" cy="329184"/>
          </a:xfrm>
          <a:prstGeom prst="ellipse">
            <a:avLst/>
          </a:prstGeom>
          <a:solidFill>
            <a:srgbClr val="E4F6F2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✓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156448" y="1709928"/>
            <a:ext cx="329184" cy="32918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 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436608" y="1709928"/>
            <a:ext cx="329184" cy="32918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 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6768" y="1709928"/>
            <a:ext cx="329184" cy="329184"/>
          </a:xfrm>
          <a:prstGeom prst="ellipse">
            <a:avLst/>
          </a:prstGeom>
          <a:solidFill>
            <a:srgbClr val="E4F6F2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76288" y="2624328"/>
            <a:ext cx="329184" cy="32918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156448" y="2624328"/>
            <a:ext cx="329184" cy="329184"/>
          </a:xfrm>
          <a:prstGeom prst="ellipse">
            <a:avLst/>
          </a:prstGeom>
          <a:solidFill>
            <a:srgbClr val="E4F6F2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436608" y="2624328"/>
            <a:ext cx="329184" cy="32918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 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16768" y="2624328"/>
            <a:ext cx="329184" cy="32918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 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76288" y="3538728"/>
            <a:ext cx="329184" cy="32918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156448" y="3538728"/>
            <a:ext cx="329184" cy="32918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 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436608" y="3538728"/>
            <a:ext cx="329184" cy="329184"/>
          </a:xfrm>
          <a:prstGeom prst="ellipse">
            <a:avLst/>
          </a:prstGeom>
          <a:solidFill>
            <a:srgbClr val="E4F6F2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✓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6768" y="3538728"/>
            <a:ext cx="329184" cy="32918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 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20840" y="4343400"/>
            <a:ext cx="42976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egy oszlopból pontosan egy választás = egy szín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Algoritmuselmélet • bonyolultságelmélet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</a:rPr>
              <a:t>KAPCSOLAT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694944"/>
            <a:ext cx="6583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Maxklikk és záró összefoglaló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93776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maxklikk: van-e k pontú teljes részgráf?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maxklikk ∈ NP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maxftl ≺ maxklikk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komplementer gráf: független halmaz ↔ klikk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5394960" cy="713232"/>
          </a:xfrm>
          <a:prstGeom prst="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2A9D8F">
                <a:alpha val="8800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Képlet / definíció
</a:t>
            </a:r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(G,k) ∈ maxftl ⇔ (Ḡ,k) ∈ maxklikk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629400" y="1874520"/>
            <a:ext cx="914400" cy="-18288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43800" y="1691640"/>
            <a:ext cx="640080" cy="77724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3880" y="2468880"/>
            <a:ext cx="-365760" cy="100584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3474720"/>
            <a:ext cx="-1005840" cy="-32004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3154680"/>
            <a:ext cx="-182880" cy="-128016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274320" cy="178308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096" y="1728216"/>
            <a:ext cx="292608" cy="292608"/>
          </a:xfrm>
          <a:prstGeom prst="ellipse">
            <a:avLst/>
          </a:prstGeom>
          <a:solidFill>
            <a:srgbClr val="E4F6F2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 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397496" y="1545336"/>
            <a:ext cx="292608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 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37576" y="2322576"/>
            <a:ext cx="292608" cy="292608"/>
          </a:xfrm>
          <a:prstGeom prst="ellipse">
            <a:avLst/>
          </a:prstGeom>
          <a:solidFill>
            <a:srgbClr val="E4F6F2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 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671816" y="3328416"/>
            <a:ext cx="292608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 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665976" y="3008376"/>
            <a:ext cx="292608" cy="292608"/>
          </a:xfrm>
          <a:prstGeom prst="ellipse">
            <a:avLst/>
          </a:prstGeom>
          <a:solidFill>
            <a:srgbClr val="E4F6F2"/>
          </a:solidFill>
          <a:ln w="16510">
            <a:solidFill>
              <a:srgbClr val="2A9D8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 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9464040" y="1874520"/>
            <a:ext cx="1554480" cy="59436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E76F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18520" y="2468880"/>
            <a:ext cx="-1371600" cy="68580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E76F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46920" y="3154680"/>
            <a:ext cx="-182880" cy="-128016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17736" y="1728216"/>
            <a:ext cx="292608" cy="292608"/>
          </a:xfrm>
          <a:prstGeom prst="ellipse">
            <a:avLst/>
          </a:prstGeom>
          <a:solidFill>
            <a:srgbClr val="FDE9E4"/>
          </a:solidFill>
          <a:ln w="16510">
            <a:solidFill>
              <a:srgbClr val="E76F5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 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232136" y="1545336"/>
            <a:ext cx="292608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 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0872216" y="2322576"/>
            <a:ext cx="292608" cy="292608"/>
          </a:xfrm>
          <a:prstGeom prst="ellipse">
            <a:avLst/>
          </a:prstGeom>
          <a:solidFill>
            <a:srgbClr val="FDE9E4"/>
          </a:solidFill>
          <a:ln w="16510">
            <a:solidFill>
              <a:srgbClr val="E76F5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 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506456" y="3328416"/>
            <a:ext cx="292608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732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 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9500616" y="3008376"/>
            <a:ext cx="292608" cy="292608"/>
          </a:xfrm>
          <a:prstGeom prst="ellipse">
            <a:avLst/>
          </a:prstGeom>
          <a:solidFill>
            <a:srgbClr val="FDE9E4"/>
          </a:solidFill>
          <a:ln w="16510">
            <a:solidFill>
              <a:srgbClr val="E76F5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 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629400" y="3794760"/>
            <a:ext cx="15544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G: független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464040" y="3794760"/>
            <a:ext cx="15544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Ḡ: klikk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4617720"/>
            <a:ext cx="53035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</a:rPr>
              <a:t>5 gondolat: P = megoldás • NP = ellenőrzés • coNP = nem-tanúsítvány • redukció = nehézségátvitel • NP-teljes = központi nehéz eset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bonyolultságelmélet alapjai</dc:title>
  <dc:subject>Algoritmuselmélet oktatási prezentáció</dc:subject>
  <dc:creator>OpenAI</dc:creator>
  <cp:lastModifiedBy>OpenAI</cp:lastModifiedBy>
  <cp:revision>1</cp:revision>
  <dcterms:created xsi:type="dcterms:W3CDTF">2026-06-25T19:19:25Z</dcterms:created>
  <dcterms:modified xsi:type="dcterms:W3CDTF">2026-06-25T19:19:25Z</dcterms:modified>
</cp:coreProperties>
</file>