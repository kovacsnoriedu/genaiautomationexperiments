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Bemutató célja: A bonyolultságelmélet alapfogalmainak áttekintése algoritmuselméletet tanuló hallgatók számára. Forrás: Friedl Katalin kiegészítő anyaga. A prezentáció vizsgára készüléshez is alkalmas összefoglaló.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Hangsúlyozzuk: k függ a problémától, de nem függ az x bemenettől. Az eldöntési problémáknál a kimenet mindig 1 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ÚT probléma egyszerű példa P-re. A PRIM meglepő: sokáig megoldatlan volt, 2002-ben az AKS-algoritmus bizonyította P-beliségét. A Hamilton-kör NP-teljes (ezt később látjuk).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Jelölés: x ∈ X azt jelenti, hogy az x bemenetre a válasz »igen«. A(x) az A algoritmus eredménye. A k konstans a problémától függ, de az x bemenettől nem.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tanúsítvány lényege: ha a válasz igen, van rövid (polinom hosszú) bizonyíték, amit T polinomidőben ellenőriz. Ha nem, semmilyen rövid érvelés nem csaphatja be T-t.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Fontos: NP nem »nem polinomiális«! A névben a »N« a nemdeterminizmusra utal. P ⊆ NP bizonyítása: ha X ∈ P, akkor a hatékony tanúsítvánnyal T egyszerűen lefuttatja az X-et megoldó algoritmust (t üres).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Mindhárom esetben: a tanúsítvány polinom hosszú, az ellenőrzés polinomiális. Az ÖSSZETETT = PRIM komplementere, tehát ha ÖSSZETETT ∈ NP, az a PRIM coNP-beli tagságára utal.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definíció szerint X ∈ coNP pontosan akkor, ha X̄ ∈ NP. P ⊆ NP ∩ coNP, mert ha X ∈ P, akkor X̄ is megoldható polinomidőben. Nyitott kérdés: NP = coNP?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 ?= NP kérdés megválaszolása forradalmasítaná a számítástudományt és az informatikai biztonságot. Ha P = NP, akkor minden NP-beli probléma polinomidőben megoldható, ami a mai kriptográfiai rendszerek összeomlásával járna.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Szemléletes analógia: ha X-et át tudom fordítani Y-kérdésre (polinomidőben), és Y megoldható, akkor X is megoldható. A redukció »nehézséget örökít felfelé«: ha X nehéz, Y is nehéz.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Az NP-teljességi bizonyítás standard sémája: (1) Z ∈ NP; (2) Y ≺ Z valamely ismert NP-teljes Y-ból. A Cook–Levin tétel adta az első NP-teljes problémát (SAT, 1970-es évek eleje).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Kiindulási alap: 3SZÍN NP-teljes (bizonyítás nélkül elfogadva). A Cook–Levin tétel SAT NP-teljességét mutatta meg először, de nekünk 3SZÍN jobb kiindulópont.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4SZÍN probléma szintén NP-teljes: konstruálunk egy új x csúcsot, összekötjük az összes régi csúccsal. Ha G' 4-gel színezhető, akkor G 3-mal (mert x elveszi az egyik színt). Ehhez 3SZÍN ≺ 4SZÍN visszavezetés elegendő.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Bináris keresés (2. tétel): ha van polinomiális A algoritmus maxFTL-re, akkor O(log n) hívással meghatározható a maximum. Tehát az eldöntési és az optimalizálási változat bonyolultsága egyenértékű.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visszavezetés szíve: a háromszögek (aᵢ,bᵢ,cᵢ) biztosítják, hogy egy n méretű független halmazból minden i-re pontosan egy képviselteti magát – ez kódolja a 3-színezést.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az egyik legszebb visszavezetés: egyetlen operáció (komplementer gráf) elegendő. A komplementer gráfban pontosan azok az élek vannak, amelyek az eredetiben nincsenek.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gráfizomorfizmus »titokzatos« probléma: nagy valószínűséggel sem P-ben, sem NP-teljesen nincs. Ez jó példa arra, hogy NP-ben lét nem jelent NP-teljességet.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Fontos megfigyelés: 2DM (kétdimenziós párosítás) és X2C ∈ P. Az egy dimenzióval több (3DM, X3C) NP-teljessé teszi a problémát. Az LP → EP ugrás (valós → egész) szintén P → NP-teljes ugráson megy át.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maxFTL → EP leképezés: minden csúcshoz xᵢ ∈ {0,1}; él feltétel: xᵢ + xⱼ ≤ 1. Ezzel az xᵢ = 1 éppen azt jelenti, hogy i csúcs benne van a független halmazban.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Zárszó: A P ?= NP kérdés megválaszolása nemcsak elméleti, hanem óriási gyakorlati jelentőségű lenne. Az NP-teljességi bizonyítások azt jelzik: »valószínűleg nincs hatékony algoritmus« – és ez a tudás önmagában is értékes tervezési irányelv. Vizsgán különösen fontos: a definíciók, a visszavezetés sémája, és a konkrét visszavezetések (3SZÍN ≺ maxFTL, maxFTL ≺ maxKLIKK).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bonyolultságelmélet alapjai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NP, coNP, Karp-redukció, NP-nehézség és NP-teljesség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Forrás: Friedl Katalin – Kiegészítő anyag az Algoritmuselmélet tárgyhoz (BME SZIT, 2010)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 a hatékony algoritmus?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futásidő felülről becsülhető a bemenet hosszának egy polinomjával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f(n) = O(nᵏ) valamely k &gt; 0 konstansra → az algoritmus polinomiális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 kimenet exponenciálisan hosszú, az algoritmus sem lehet polinomiális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Eldöntési problémák: a kimenet egyetlen bit (igen / nem)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280160"/>
            <a:ext cx="2926080" cy="256032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9788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Bemenet (n bit)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920240"/>
            <a:ext cx="18288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20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0" y="2331720"/>
            <a:ext cx="0" cy="45720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2926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Kimenet: igen / nem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O(nᵏ) lépés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34340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Hatékony: 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f(n) = O(nᵏ) valamely k &gt; 0 konstansra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Eldöntési problémák – Példák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eldöntési problémához tartozó L nyelv: az »igen« választ adó bemenetek halmaza.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91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Bemenet: m &gt; 0 egész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Kérdés: m prímszám?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16002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47288" y="1691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(Hamilton-kör)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47288" y="21031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Bemenet: G irányítatlan gráf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Kérdés: van-e Hamilton-kör?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4496" y="16002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45936" y="1691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45936" y="21031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Bemenet: G gráf, s, t csúcsok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Kérdés: van-e s–t út G-ben?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 ∈ P – eldönthető szélességi bejárással (polinomiális)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 ∈ P – 2002-ben bizonyított be (AKS-algoritmus)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– nem ismert, hogy P-ben van-e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 osztály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azon eldöntési problémák halmaza, amelyekre van polinomiális idejű algoritmus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algoritmusnak minden bemenetre helyesen kell válaszolnia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Lépésszám: O(|x|ᵏ), ahol k &gt; 0 fix konstans, független x-től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 ∈ P  |  PRIM ∈ P  |  2SZÍN ∈ 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0" y="1463040"/>
            <a:ext cx="2560320" cy="2560320"/>
          </a:xfrm>
          <a:prstGeom prst="ellipse">
            <a:avLst/>
          </a:prstGeom>
          <a:solidFill>
            <a:srgbClr val="0D9488">
              <a:alpha val="7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583680" y="28346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2SZÍN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160520"/>
            <a:ext cx="80101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X | ∃ A algoritmus: minden x esetén helyes választ ad, lépésszáma O(|x|ᵏ) }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Hatékony tanúsítvány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x ∈ X: legyen t egy rövid »megfejtés« (bizonyíték)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00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bemenet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851660"/>
            <a:ext cx="27432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6002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600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t 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851660"/>
            <a:ext cx="27432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6002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600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ellenőrző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851660"/>
            <a:ext cx="27432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6002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600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igen / nem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|t| = O(|x|ᶜ)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6908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polinom lépésszám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3749040" cy="1463040"/>
          </a:xfrm>
          <a:prstGeom prst="roundRect">
            <a:avLst>
              <a:gd name="adj" fmla="val 6250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x ∈ X: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t,  |t| = O(|x|ᶜ)  és  T(x, t) = igen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337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(van rövid jó bizonyíték)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2560320"/>
            <a:ext cx="4206240" cy="1463040"/>
          </a:xfrm>
          <a:prstGeom prst="roundRect">
            <a:avLst>
              <a:gd name="adj" fmla="val 6250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17720" y="2651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x ∉ X: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 t, |t| = O(|x|ᶜ) esetén T(x, t) ≠ igen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3337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(nincs t, ami becsapja T-t)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34340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 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polinomiális, O((|x|+|t|)ᵏ) lépésszám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 NP osztály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303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= azon eldöntési problémák halmaza, amelyekre van hatékony tanúsítvány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NP: »Nemdeterminisztikus Polinomiális idő« (nem »Nem Polinomiális«!)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 bizonyítékot elég »megsejtenünk« – az ellenőrzés determinisztikus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⊆ NP: ha van polinomiális algoritmus, t = ∅ maga is tanúsítvány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188720"/>
            <a:ext cx="3017520" cy="3474720"/>
          </a:xfrm>
          <a:prstGeom prst="ellipse">
            <a:avLst/>
          </a:prstGeom>
          <a:solidFill>
            <a:srgbClr val="0D9488">
              <a:alpha val="4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63640" y="2286000"/>
            <a:ext cx="1737360" cy="1554480"/>
          </a:xfrm>
          <a:prstGeom prst="ellipse">
            <a:avLst/>
          </a:prstGeom>
          <a:solidFill>
            <a:srgbClr val="1B2A4A">
              <a:alpha val="70000"/>
            </a:srgbClr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60720" y="4754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⊆ NP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886200"/>
            <a:ext cx="4901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 = 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X | X-hez van hatékony tanúsítvány 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Figyelem: NP ≠ »Nem Polinomiális«!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NP-beli példák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∈ NP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270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Tanúsítvány (t): t = csúcsok sorrendbe rendezve a Hamilton-kör mentén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Ellenőrző (T): T ellenőrzi: valóban kör-e, minden él megvan-e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77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ÖSSZETETT ∈ NP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7157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Tanúsítvány (t): t = egy valódi osztó (1 &lt; t &lt; m, t | 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Ellenőrző (T): T ellenőrzi: 1 &lt; t &lt; m és t osztója m-nek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5661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3SZÍN ∈ NP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9044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Tanúsítvány (t): t = minden csúcshoz egy szín (1, 2, 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Ellenőrző (T): T ellenőrzi: szomszédos csúcsok különböző színűek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6817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727448"/>
            <a:ext cx="8010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Közös: 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Tanúsítvány polinom hosszú  |  T ellenőrzése polinomiális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komplementer és a coNP osztály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X probléma komplementere X̄: ugyanolyan bemenet, de ellentétes válasz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Példa: ÖSSZETETT = PRIM  (prímek ↔ összetett számok)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coNP: az NP-beli problémák komplementereinek halmaza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NP-ben az IGEN válaszra van rövid bizonyíték; coNP-ban a NEM válaszra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állítás: P ⊆ NP  és  P ⊆ coNP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2834640" cy="2560320"/>
          </a:xfrm>
          <a:prstGeom prst="ellipse">
            <a:avLst/>
          </a:prstGeom>
          <a:solidFill>
            <a:srgbClr val="0D9488">
              <a:alpha val="4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417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371600"/>
            <a:ext cx="2834640" cy="2560320"/>
          </a:xfrm>
          <a:prstGeom prst="ellipse">
            <a:avLst/>
          </a:prstGeom>
          <a:solidFill>
            <a:srgbClr val="D97706">
              <a:alpha val="30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417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06440" y="1965960"/>
            <a:ext cx="822960" cy="640080"/>
          </a:xfrm>
          <a:prstGeom prst="ellipse">
            <a:avLst/>
          </a:prstGeom>
          <a:solidFill>
            <a:srgbClr val="1B2A4A">
              <a:alpha val="80000"/>
            </a:srgbClr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⊆ NP ∩ coNP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20624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coNP = 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X | X̄ ∈ NP }  ⟺  X ∈ coNP ⟺ X̄ ∈ NP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?= NP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számítástudományban a leghíresebb nyitott kérdés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0D9488">
              <a:alpha val="8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377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 P = NP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 igen válasz ellenőrzése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a megoldás megtalálása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Titkosítás jelenlegi formája összeomlana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Rengeteg optimalizálási probléma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hatékonyan megoldható lenne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228600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B2A4A">
              <a:alpha val="80000"/>
            </a:srgbClr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2377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 P ⊊ NP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834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Léteznek problémák,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ahol ellenőrzés &lt;&lt;&lt; keresés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köznapi tapasztalattal egybevág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(pl. Sudoku)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legtöbb szakértő ezt valószínűsíti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Mathematics Institute: 1 000 000 $ díj (2000)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Karp-redukció (polinomiális visszavezetés)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≺ Y: X visszavezethető Y-ra polinomidejű f függvénnyel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minden X-bemenetet Y-bemenetre képez, megőrizve a választ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Y megoldható → X is megoldható (Y legalább olyan nehéz, mint X)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Tranzitivitás: X ≺ Y és Y ≺ Z ⟹ X ≺ Z (6. állítás)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8288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040880" y="2103120"/>
            <a:ext cx="64008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0" y="18745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1828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03720" y="23957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(polinom)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≺ 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7673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Következmények (3–5. állítás):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Y ∈ P és X ≺ Y  ⟹  X ∈ P     |     Ha Y ∈ NP és X ≺ Y  ⟹  X ∈ NP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4622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Y ∈ coNP és X ≺ Y  ⟹  X ∈ coNP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0"/>
          </a:xfrm>
          <a:prstGeom prst="roundRect">
            <a:avLst>
              <a:gd name="adj" fmla="val Infinity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846320"/>
            <a:ext cx="8010144" cy="-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≺ Y: 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polinom f : x ∈ X  ⟺  f(x) ∈ 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≺ Y:  ∃ polinom idejű f :   x ∈ X  ⟺  f(x) ∈ 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NP-nehéz és NP-teljes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NP-nehéz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 X ∈ NP:  X ≺ 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legalább olyan nehéz, mint bármely NP-beli probléma (de akár nehezebb is lehet)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NP-teljes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16642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NP-nehéz  ÉS  Z ∈ NP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20299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NP legnehezebb problémái: maguk is NP-ben vannak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37360" y="2971800"/>
            <a:ext cx="2926080" cy="2286000"/>
          </a:xfrm>
          <a:prstGeom prst="ellipse">
            <a:avLst/>
          </a:prstGeom>
          <a:solidFill>
            <a:srgbClr val="0D9488">
              <a:alpha val="3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30175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0" y="3429000"/>
            <a:ext cx="914400" cy="640080"/>
          </a:xfrm>
          <a:prstGeom prst="ellipse">
            <a:avLst/>
          </a:prstGeom>
          <a:solidFill>
            <a:srgbClr val="1B2A4A">
              <a:alpha val="80000"/>
            </a:srgbClr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34930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566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NP-teljes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 határa)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200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NP-nehéz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(kívül is)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egyetlen NP-teljes probléma P-ben lenne  ⟹  P = NP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NP-teljességi bizonyítás sémája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Belátjuk: Z ∈ NP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819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Adjunk hatékony tanúsítványt: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rövid t bizonyíték + polinomiális T ellenőrző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774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Választunk ismert NP-teljes Y-t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7706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Pl. 3SZÍN (kiindulóalap, elfogadva bizonyítás nélkül)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5661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356616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Megmutatjuk: Y ≺ Z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95935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Polinom idejű f : y ∈ Y ⟺ f(y) ∈ Z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elegendő ez?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142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Tranzitivitás (6. állítás): ∀ X ∈ NP: X ≺ Y és Y ≺ Z  ⟹  X ≺ Z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2468880" cy="384048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617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∈ NP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4809744"/>
            <a:ext cx="3657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617720"/>
            <a:ext cx="2468880" cy="384048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4617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≺ Y (NP-teljes)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4809744"/>
            <a:ext cx="3657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4617720"/>
            <a:ext cx="2468880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4617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≺ Z (új)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029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Z NP-teljes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3-színezés – NP-teljesség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3SZÍN: G irányítatlan gráf csúcsai kiszínezhetők-e 3 színnel?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Feltétel: szomszédos csúcsok különböző színűek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3SZÍN ∈ NP: t = csúcsok színsorozata; T ellenőriz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2SZÍN ∈ P: ekvivalens a páros gráffal, bejárással ellenőrizhető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3SZÍN NP-teljes – kiindulóalap (1. tétel, bizonyítás nélkül)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56832" y="1627632"/>
            <a:ext cx="1371600" cy="6400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8432" y="2267712"/>
            <a:ext cx="-274320" cy="137160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54112" y="3639312"/>
            <a:ext cx="-1554480" cy="27432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3913632"/>
            <a:ext cx="-365760" cy="-118872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33872" y="2724912"/>
            <a:ext cx="822960" cy="-10972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6832" y="1627632"/>
            <a:ext cx="1097280" cy="201168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371600"/>
            <a:ext cx="512064" cy="512064"/>
          </a:xfrm>
          <a:prstGeom prst="ellipse">
            <a:avLst/>
          </a:prstGeom>
          <a:solidFill>
            <a:srgbClr val="E53E3E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58584" y="138988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2011680"/>
            <a:ext cx="512064" cy="512064"/>
          </a:xfrm>
          <a:prstGeom prst="ellipse">
            <a:avLst/>
          </a:prstGeom>
          <a:solidFill>
            <a:srgbClr val="3182CE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202996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0" y="3383280"/>
            <a:ext cx="512064" cy="512064"/>
          </a:xfrm>
          <a:prstGeom prst="ellipse">
            <a:avLst/>
          </a:prstGeom>
          <a:solidFill>
            <a:srgbClr val="38A16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5864" y="340156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657600"/>
            <a:ext cx="512064" cy="512064"/>
          </a:xfrm>
          <a:prstGeom prst="ellipse">
            <a:avLst/>
          </a:prstGeom>
          <a:solidFill>
            <a:srgbClr val="E53E3E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367588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2468880"/>
            <a:ext cx="512064" cy="512064"/>
          </a:xfrm>
          <a:prstGeom prst="ellipse">
            <a:avLst/>
          </a:prstGeom>
          <a:solidFill>
            <a:srgbClr val="3182CE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35624" y="248716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4114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Szomszédos csúcsok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különböző színűek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43484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3SZÍN: 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c: V → {1,2,3},  ∀ {u,v} ∈ E: c(u) ≠ c(v)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Maximális független ponthalmaz – maxFTL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Független ponthalmaz: semmilyen két kiválasztott csúcs közt nincs él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maxFTL ∈ NP: t = k csúcs felsorolása; T ellenőrzi a függetlenséget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van polinomiális algoritmus → bináris kereséssel a max. is meghatározható (2. tétel)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maxFTL NP-teljes: visszavezetés 3SZÍN-ről (3. tétel)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0" y="1645920"/>
            <a:ext cx="1371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1645920"/>
            <a:ext cx="640080" cy="1371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3017520"/>
            <a:ext cx="-1097280" cy="10972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4114800"/>
            <a:ext cx="-1371600" cy="-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3749040"/>
            <a:ext cx="-457200" cy="-11887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2560320"/>
            <a:ext cx="914400" cy="-9144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1645920"/>
            <a:ext cx="-457200" cy="2468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45920"/>
            <a:ext cx="-457200" cy="21031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371600"/>
            <a:ext cx="548640" cy="548640"/>
          </a:xfrm>
          <a:prstGeom prst="ellipse">
            <a:avLst/>
          </a:prstGeom>
          <a:solidFill>
            <a:srgbClr val="0D9488"/>
          </a:solidFill>
          <a:ln w="381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38988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1371600"/>
            <a:ext cx="548640" cy="548640"/>
          </a:xfrm>
          <a:prstGeom prst="ellipse">
            <a:avLst/>
          </a:prstGeom>
          <a:solidFill>
            <a:srgbClr val="E2E8F0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138988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2743200"/>
            <a:ext cx="548640" cy="548640"/>
          </a:xfrm>
          <a:prstGeom prst="ellipse">
            <a:avLst/>
          </a:prstGeom>
          <a:solidFill>
            <a:srgbClr val="E2E8F0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276148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3840480"/>
            <a:ext cx="548640" cy="548640"/>
          </a:xfrm>
          <a:prstGeom prst="ellipse">
            <a:avLst/>
          </a:prstGeom>
          <a:solidFill>
            <a:srgbClr val="0D9488"/>
          </a:solidFill>
          <a:ln w="381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385876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3474720"/>
            <a:ext cx="548640" cy="548640"/>
          </a:xfrm>
          <a:prstGeom prst="ellipse">
            <a:avLst/>
          </a:prstGeom>
          <a:solidFill>
            <a:srgbClr val="E2E8F0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349300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2286000"/>
            <a:ext cx="548640" cy="548640"/>
          </a:xfrm>
          <a:prstGeom prst="ellipse">
            <a:avLst/>
          </a:prstGeom>
          <a:solidFill>
            <a:srgbClr val="0D9488"/>
          </a:solidFill>
          <a:ln w="381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230428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251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Kiemelt (teal): független ponthalmaz, k=3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3484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maxFTL: 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(G, k) ∈ maxFTL  ⟺  ∃ F ⊆ V, |F| ≥ k,  ∀ u,v ∈ F: {u,v} ∉ 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Visszavezetés: 3SZÍN ≺ maxFTL (3. tétel)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Konstrukció: G (n csúcs) → H (3n csúcs), k = 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csúcsai: a₁…aₙ,  b₁…bₙ,  c₁…cₙ  (G minden csúcsának 3 másolata)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G-ben él van vᵢ–vⱼ között → él megy aᵢ–aⱼ, bᵢ–bⱼ, cᵢ–cⱼ között 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i-re él húzódik aᵢ, bᵢ, cᵢ között (»háromszög« = egy szín kizárva)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3200400"/>
            <a:ext cx="3840480" cy="1234440"/>
          </a:xfrm>
          <a:prstGeom prst="roundRect">
            <a:avLst>
              <a:gd name="adj" fmla="val 7407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32735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G ∈ 3SZÍN  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63016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i-re az {aᵢ,bᵢ,cᵢ} hármasból pontosan egyet választunk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 független pont H-ban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32004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3273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(H,n) ∈ maxFTL  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36301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háromszögből pontosan egy csúcs esik F-be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ezek meghatároznak egy 3-színezést G-n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663440"/>
            <a:ext cx="8010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Összefoglalás: 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∈ 3SZÍN  ⟺  (H, n) ∈ maxFTL     (f polinomiális)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Maximális klikk – maxKLIKK (5. tétel)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Klikk: minden két csúcs közt él van (teljes részgráf)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maxKLIKK ∈ NP: t = k csúcs; T ellenőrzi, hogy minden pár össze van kötve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maxFTL ≺ maxKLIKK: f(G, k) = (Ḡ, k), ahol Ḡ a G komplementer gráfja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független halmaz G-ben  ⟺  F klikk Ḡ-ben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0" y="1097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25312" y="1627632"/>
            <a:ext cx="9144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1371600"/>
            <a:ext cx="512064" cy="512064"/>
          </a:xfrm>
          <a:prstGeom prst="ellipse">
            <a:avLst/>
          </a:prstGeom>
          <a:solidFill>
            <a:srgbClr val="0D9488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38988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371600"/>
            <a:ext cx="512064" cy="512064"/>
          </a:xfrm>
          <a:prstGeom prst="ellipse">
            <a:avLst/>
          </a:prstGeom>
          <a:solidFill>
            <a:srgbClr val="64748B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38988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512064" cy="512064"/>
          </a:xfrm>
          <a:prstGeom prst="ellipse">
            <a:avLst/>
          </a:prstGeom>
          <a:solidFill>
            <a:srgbClr val="64748B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21284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2606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u,v él van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u,v szomszédos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komplementer 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1097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85632" y="1627632"/>
            <a:ext cx="457200" cy="8229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0032" y="1627632"/>
            <a:ext cx="-457200" cy="8229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371600"/>
            <a:ext cx="512064" cy="512064"/>
          </a:xfrm>
          <a:prstGeom prst="ellipse">
            <a:avLst/>
          </a:prstGeom>
          <a:solidFill>
            <a:srgbClr val="0D9488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138988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1371600"/>
            <a:ext cx="512064" cy="512064"/>
          </a:xfrm>
          <a:prstGeom prst="ellipse">
            <a:avLst/>
          </a:prstGeom>
          <a:solidFill>
            <a:srgbClr val="64748B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138988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0" y="2194560"/>
            <a:ext cx="512064" cy="512064"/>
          </a:xfrm>
          <a:prstGeom prst="ellipse">
            <a:avLst/>
          </a:prstGeom>
          <a:solidFill>
            <a:srgbClr val="0D9488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2212848"/>
            <a:ext cx="320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0" y="2606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u-w, v-w él van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{u,v,w} nem klikk,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{u,w} klikk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79476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Bizonyítás: 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(G, k) ∈ maxFTL  ⟺  (Ḡ, k) ∈ maxKLIKK    [f(G,k) = (Ḡ, k)]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független G-ben  ⟺  F klikk Ḡ-ben  (mert az élek pontosan kiegészülnek)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Részgráf-izomorfizmus (6. tétel)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részgráfizó: G₁-nek van G₂-vel izomorf részgráfja?  → NP-teljes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Tanúsítvány: G₂ csúcsainak megfeleltetése G₁-beli csúcsokra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ellenőrzi: különböző csúcsok képe különböző + élek megmaradnak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Visszavezetés: H ≺ részgráfizó  (G → (Cₙ, G), ahol Cₙ n-csúcsú kör)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G-ben pontosan akkor van Hamilton-kör, ha van Cₙ-nel izomorf részgráfja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14300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23560" y="1234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grafizó vs. részgráfizó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23560" y="169164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grafizó: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G₁ ≅ G₂?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NP-ben van,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státusza ismeretlen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(NP-teljes? P-beli?)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4206240"/>
            <a:ext cx="8010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Visszavezetés: 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∈ H  ⟺  (Cₙ, G) ∈ részgráfizó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Megjegyés: grafizó NP-ben van (házi feladat), de NP-teljessége ismeretlen.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gráfos NP-teljes problémák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2070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 (részhalmazösszeg)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6002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I ⊆ {1…n}: Σᵢ∈ᵢ sᵢ = b?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1430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18888" y="120700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PARTÍCIÓ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18888" y="16002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egyenlő összegű részre osztható-e s₁…sₙ?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441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HÁTIZSÁK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8346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I: Σsⱼ ≤ b  és  Σvⱼ ≥ k?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3774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18888" y="2441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LÁDAPAKOLÁS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18888" y="28346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Elfér-e az összes tárgy k ládában?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3E8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67588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 (egész programozás)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40690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egész x megoldása a Σaᵢⱼxⱼ ≤ bᵢ rendszernek?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61188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18888" y="367588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3DM / X3C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40690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Pontosan fedhetők-e a halmazok 3 elemű részhalmazokkal?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(lineáris programozás, valós x) ∈ P  |  EP (egész x) NP-teljes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LP vs. EP – Egy meglepő határ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Lineáris programozás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xⱼ valós értékű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P-ben van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Hatékony algoritmusok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(szimplex, belső pont)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4206240"/>
            <a:ext cx="2011680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206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 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234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00600" y="1874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Egészértékű programozás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2860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xⱼ egész értékű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NP-teljes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legtöbb NP-teljes probléma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(maxFTL, H, HÁTIZSÁK…)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EP-ként is felírható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4206240"/>
            <a:ext cx="2194560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4206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NP-teljes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Egyetlen megszorítás (xⱼ ∈ ℤ) elegendő P → NP-teljes ugráshoz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Összefoglalás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kulcsgondolat, amit meg kell jegyezni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osztály: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3716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Polinomidőben megoldható eldöntési problémák. ÚT, PRIM ∈ 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12140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 osztály: 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1214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Ahol az IGEN válaszra van rövid, polinom időben ellenőrizhető bizonyíték. P ⊆ NP.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87121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8712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?= NP: 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287121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számítástudományban a leghíresebb nyitott kérdés. Clay díj: 1M$.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19856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62102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6210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Karp-redukció (X ≺ Y): 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362102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Y könnyű, X is könnyű. Ha X nehéz, Y is nehéz. Tranzitív.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69664"/>
            <a:ext cx="82296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37083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NP-teljes: 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26080" y="437083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NP legnehezebb problémái. Ha egy P-be kerül → P = NP. Pl.: 3SZÍN, maxFTL, maxKLIKK.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Friedl Katalin – Algoritmuselmélet kiegészítő anyag, BME SZIT (2010)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bonyolultságelmélet alapjai</dc:title>
  <dc:subject>PptxGenJS Presentation</dc:subject>
  <dc:creator>Friedl Katalin (BME SZIT)</dc:creator>
  <cp:lastModifiedBy>Friedl Katalin (BME SZIT)</cp:lastModifiedBy>
  <cp:revision>1</cp:revision>
  <dcterms:created xsi:type="dcterms:W3CDTF">2026-06-25T20:13:23Z</dcterms:created>
  <dcterms:modified xsi:type="dcterms:W3CDTF">2026-06-25T20:13:23Z</dcterms:modified>
</cp:coreProperties>
</file>