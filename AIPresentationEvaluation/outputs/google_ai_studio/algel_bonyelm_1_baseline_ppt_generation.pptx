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Üdvözlöm! Ma a P és NP osztályok világába lépünk be. Fontos megérteni, hogy elméletileg a polinomiális időt tekintjük hatékonynak.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Az eldöntési problémák egyszerűsítik az elméleti vizsgálatot. Példa: Egy szám prím?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Vegyük észre a különbséget: az ÚT egyszerű, a Hamilton-kör nehéz.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 osztály a gyakorlatban jól kezelhető problémákat takarja. A PRÍM 2002 óta a P része!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Gondoljanak a Sudokura: megoldani nehéz, de ha valaki kitöltve adja oda, ellenőrizni gyors.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Az NP nem a 'nem polinomiális' rövidítése! A név a nemdeterminisztikus gépről 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Mindhárom esetben igaz: ha megadják a 'súgót', gyorsan ellenőrizhető.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Ezért nem tudjuk egyelőre, hogy P=NP-e. Az ellenőrzés gyors, de a brute-force lassú.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 egy szám nem prím, van tanúsítványa. De vajon a 'nem' válaszra is van rövid bizonyíték?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 a feladat P-ben van, akkor mind az 'igen', mind a 'nem' válasz könnyen indokolható.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legtöbb kutató szerint P ≠ NP, azaz a keresés nehezebb, mint az ellenőrzés.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redukció olyan, mint egy tolmács. Ha tudok magyarul (X), de angol a feladat (Y), kell egy fordító.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Ez a kulcs: ha találunk egy nehéz NP-teljes problémát, erre minden más visszavezethető.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Cook és Levin az 70-es évek elején bizonyították be az első ilyen problémát.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Kiindulópontunk a 3SZÍN, amit bizonyítás nélkül fogadunk 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tanúsítvány a k csúcs listája.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MAXKLIKK is NP-teljes, mert a független halmaz probléma a komplementer gráfra nézve klikk probléma.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Az NP-teljes feladatok a matematika minden területén megtalálhatóak.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Gratulálok! Ez volt a bonyolultságelmélet alapja.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Köszönöm a figyelmet!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Bevezetés a bonyolultságelméletbe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Hatékony algoritmus becslése</a:t>
            </a:r>
          </a:p>
          <a:p>
            <a:pPr/>
            <a:r>
              <a:t>Bemenet hossza (n) függvénye</a:t>
            </a:r>
          </a:p>
          <a:p>
            <a:pPr/>
            <a:r>
              <a:t>Eldöntési problémák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/>
            </a:pPr>
            <a:r>
              <a:t>KÉPLET / DEFINÍCIÓ: f(n) = O(n^k)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Eldöntési problémák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Válasz: Igen vagy Nem (1 bit)</a:t>
            </a:r>
          </a:p>
          <a:p>
            <a:pPr/>
            <a:r>
              <a:t>Bemenet: Szavak (nyelvek elemei)</a:t>
            </a:r>
          </a:p>
          <a:p>
            <a:pPr/>
            <a:r>
              <a:t>Kérdés: A bemenet tartozik-e a nyelvbe?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/>
            </a:pPr>
            <a:r>
              <a:t>KÉPLET / DEFINÍCIÓ: L = {x | a válasz igen x-re}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Példák eldöntési problémákra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PRÍM: m prím-e?</a:t>
            </a:r>
          </a:p>
          <a:p>
            <a:pPr/>
            <a:r>
              <a:t>H: Van Hamilton-kör?</a:t>
            </a:r>
          </a:p>
          <a:p>
            <a:pPr/>
            <a:r>
              <a:t>ÚT: Van-e út s és t között?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/>
            </a:pPr>
            <a:r>
              <a:t>KÉPLET / DEFINÍCIÓ: x ∈ X: Igen válasz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 osztály definíciója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Hatékonyan megoldható</a:t>
            </a:r>
          </a:p>
          <a:p>
            <a:pPr/>
            <a:r>
              <a:t>Polinomiális lépésszámú algoritmus</a:t>
            </a:r>
          </a:p>
          <a:p>
            <a:pPr/>
            <a:r>
              <a:t>Determinisztikus megoldás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/>
            </a:pPr>
            <a:r>
              <a:t>KÉPLET / DEFINÍCIÓ: P = {X | ∃A algoritmus, ami x-et O(|x|^k) időben eldönti}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hatékony tanúsítvány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Megoldás megtalálása vs. ellenőrzése</a:t>
            </a:r>
          </a:p>
          <a:p>
            <a:pPr/>
            <a:r>
              <a:t>Tanúsítvány (t): Rövid bizonyíték</a:t>
            </a:r>
          </a:p>
          <a:p>
            <a:pPr/>
            <a:r>
              <a:t>Ellenőrző (T) algoritmus: Polinomiális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/>
            </a:pPr>
            <a:r>
              <a:t>KÉPLET / DEFINÍCIÓ: T(x, t) = igen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 NP osztály definíciója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N**on**-deterministic **P**olynomial time</a:t>
            </a:r>
          </a:p>
          <a:p>
            <a:pPr/>
            <a:r>
              <a:t>Hatékony tanúsítvány létezik</a:t>
            </a:r>
          </a:p>
          <a:p>
            <a:pPr/>
            <a:r>
              <a:t>Igen válasz esetén van rövid bizonyíték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/>
            </a:pPr>
            <a:r>
              <a:t>KÉPLET / DEFINÍCIÓ: NP = {X | ∃T polinomiális ellenőrző algoritmus}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NP Példák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H: Csúcsok sorrendje (Hamilton-kör)</a:t>
            </a:r>
          </a:p>
          <a:p>
            <a:pPr/>
            <a:r>
              <a:t>ÖSSZETETT: Valódi osztó</a:t>
            </a:r>
          </a:p>
          <a:p>
            <a:pPr/>
            <a:r>
              <a:t>3SZÍN: Csúcsok színezése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/>
            </a:pPr>
            <a:r>
              <a:t>KÉPLET / DEFINÍCIÓ: |t| = O(|x|^c)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Keresés vs. Ellenőrzés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Keresési tér: Exponenciális (2^n)</a:t>
            </a:r>
          </a:p>
          <a:p>
            <a:pPr/>
            <a:r>
              <a:t>Ellenőrzés: Polinomiális</a:t>
            </a:r>
          </a:p>
          <a:p>
            <a:pPr/>
            <a:r>
              <a:t>A különbség a P=NP kérdés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/>
            </a:pPr>
            <a:r>
              <a:t>KÉPLET / DEFINÍCIÓ: 2^n vs. poly(n)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coNP osztály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Komplementer problémák</a:t>
            </a:r>
          </a:p>
          <a:p>
            <a:pPr/>
            <a:r>
              <a:t>A 'Nem' válasz ellenőrzhető</a:t>
            </a:r>
          </a:p>
          <a:p>
            <a:pPr/>
            <a:r>
              <a:t>Példa: ÖSSZETETT = PRÍM komplementere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/>
            </a:pPr>
            <a:r>
              <a:t>KÉPLET / DEFINÍCIÓ: coNP = {X | X' ∈ NP}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P, NP és coNP kapcsolat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 ⊆ NP</a:t>
            </a:r>
          </a:p>
          <a:p>
            <a:pPr/>
            <a:r>
              <a:t>P ⊆ coNP</a:t>
            </a:r>
          </a:p>
          <a:p>
            <a:pPr/>
            <a:r>
              <a:t>P ⊆ NP ∩ coNP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/>
            </a:pPr>
            <a:r>
              <a:t>KÉPLET / DEFINÍCIÓ: P ⊆ NP ∩ coNP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 ?= NP kérdés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Legfontosabb nyitott kérdés</a:t>
            </a:r>
          </a:p>
          <a:p>
            <a:pPr/>
            <a:r>
              <a:t>Egyenértékű-e a keresés és az ellenőrzés?</a:t>
            </a:r>
          </a:p>
          <a:p>
            <a:pPr/>
            <a:r>
              <a:t>Clay Institute: 1 millió dolláros díj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/>
            </a:pPr>
            <a:r>
              <a:t>KÉPLET / DEFINÍCIÓ: Pstackrel? NP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Karp-redukció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Problémák összehasonlítása</a:t>
            </a:r>
          </a:p>
          <a:p>
            <a:pPr/>
            <a:r>
              <a:t>X visszavezethető Y-re</a:t>
            </a:r>
          </a:p>
          <a:p>
            <a:pPr/>
            <a:r>
              <a:t>Polinomiális transzformáció (f)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/>
            </a:pPr>
            <a:r>
              <a:t>KÉPLET / DEFINÍCIÓ: X ≺ 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Redukció tulajdonságai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Tranzitivitás</a:t>
            </a:r>
          </a:p>
          <a:p>
            <a:pPr/>
            <a:r>
              <a:t>Ha Y ∈ P és X ≺ Y, akkor X ∈ P</a:t>
            </a:r>
          </a:p>
          <a:p>
            <a:pPr/>
            <a:r>
              <a:t>Ha Y ∈ NP és X ≺ Y, akkor X ∈ NP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/>
            </a:pPr>
            <a:r>
              <a:t>KÉPLET / DEFINÍCIÓ: X ≺ Y ∧ Y ≺ Z ⇒ X ≺ Z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NP-nehézség és NP-teljesség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NP-nehéz: Legalább olyan nehéz, mint az NP</a:t>
            </a:r>
          </a:p>
          <a:p>
            <a:pPr/>
            <a:r>
              <a:t>NP-teljes: Az NP 'legnehezebb' elemei</a:t>
            </a:r>
          </a:p>
          <a:p>
            <a:pPr/>
            <a:r>
              <a:t>NP-ben van + NP-nehéz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/>
            </a:pPr>
            <a:r>
              <a:t>KÉPLET / DEFINÍCIÓ: Z NP-teljes ha Z ∈ NP és ∀X ∈ NP: X ≺ Z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NP-teljesség bizonyítási séma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Belátjuk, hogy Z ∈ NP</a:t>
            </a:r>
          </a:p>
          <a:p>
            <a:pPr/>
            <a:r>
              <a:t>2. Kiválasztunk egy ismert NP-teljes Y-t</a:t>
            </a:r>
          </a:p>
          <a:p>
            <a:pPr/>
            <a:r>
              <a:t>3. Megmutatjuk: Y ≺ 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/>
            </a:pPr>
            <a:r>
              <a:t>KÉPLET / DEFINÍCIÓ: Y ≺ Z ∧ Z ∈ NP ⇒ Z NP-teljes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MAXFTL példa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Bemenet: (G, k)</a:t>
            </a:r>
          </a:p>
          <a:p>
            <a:pPr/>
            <a:r>
              <a:t>Kérdés: Van-e k darab független csúcs?</a:t>
            </a:r>
          </a:p>
          <a:p>
            <a:pPr/>
            <a:r>
              <a:t>NP-teljes eldöntési feladat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/>
            </a:pPr>
            <a:r>
              <a:t>KÉPLET / DEFINÍCIÓ: MAXFTL ∈ NP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MAXKLIKK és komplementer gráfok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Teljes részgráf keresése</a:t>
            </a:r>
          </a:p>
          <a:p>
            <a:pPr/>
            <a:r>
              <a:t>Kapcsolat a független ponthalmazhoz</a:t>
            </a:r>
          </a:p>
          <a:p>
            <a:pPr/>
            <a:r>
              <a:t>Komplementer gráf használata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/>
            </a:pPr>
            <a:r>
              <a:t>KÉPLET / DEFINÍCIÓ: (G, k) ∈ MAXFTL ⇔ (G', k) ∈ MAXKLIKK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További NP-teljes problémák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RÉSZGRÁFIZO (Iszomorfia)</a:t>
            </a:r>
          </a:p>
          <a:p>
            <a:pPr/>
            <a:r>
              <a:t>PARTÍCIÓ (Számok összesszege)</a:t>
            </a:r>
          </a:p>
          <a:p>
            <a:pPr/>
            <a:r>
              <a:t>HÁTIZSÁK (Knapsack)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/>
            </a:pPr>
            <a:r>
              <a:t>KÉPLET / DEFINÍCIÓ: EP ∈ NP-teljes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Összefoglaló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 = Hatékony megoldás</a:t>
            </a:r>
          </a:p>
          <a:p>
            <a:pPr/>
            <a:r>
              <a:t>NP = Hatékony ellenőrzés</a:t>
            </a:r>
          </a:p>
          <a:p>
            <a:pPr/>
            <a:r>
              <a:t>Redukció = Nehézség mérése</a:t>
            </a:r>
          </a:p>
          <a:p>
            <a:pPr/>
            <a:r>
              <a:t>P vs NP = A nagy kérdés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/>
            </a:pPr>
            <a:r>
              <a:t>KÉPLET / DEFINÍCIÓ: P ⊆ NP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Záró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Köszönöm a figyelmet!</a:t>
            </a:r>
          </a:p>
          <a:p>
            <a:pPr/>
            <a:r>
              <a:t>Kérdések?</a:t>
            </a:r>
          </a:p>
          <a:p>
            <a:pPr/>
            <a:r>
              <a:t>Kapcsolódó témák: P vs NP, Redukciók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